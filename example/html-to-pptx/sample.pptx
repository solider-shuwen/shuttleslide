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1923"/>
            <a:ext cx="4125772" cy="705002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4800" b="1" i="0">
                <a:solidFill>
                  <a:srgbClr val="1A365D"/>
                </a:solidFill>
                <a:latin typeface="Arial"/>
              </a:rPr>
              <a:t>Shuttleslide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6065520" cy="304495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2100" b="0" i="0">
                <a:solidFill>
                  <a:srgbClr val="4A5568"/>
                </a:solidFill>
                <a:latin typeface="Arial"/>
              </a:rPr>
              <a:t>Bidirectional PowerPoint ↔ HTML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857728"/>
            <a:ext cx="5219395" cy="1533448"/>
          </a:xfrm>
          <a:prstGeom prst="roundRect">
            <a:avLst>
              <a:gd name="adj" fmla="val 4969"/>
            </a:avLst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857728"/>
            <a:ext cx="50800" cy="15334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" y="3162223"/>
            <a:ext cx="2390851" cy="295579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950" b="1" i="0">
                <a:solidFill>
                  <a:srgbClr val="2D3748"/>
                </a:solidFill>
                <a:latin typeface="Arial"/>
              </a:rPr>
              <a:t>PPTX →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" y="3571646"/>
            <a:ext cx="4572000" cy="514350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350" b="0" i="0">
                <a:solidFill>
                  <a:srgbClr val="4A5568"/>
                </a:solidFill>
                <a:latin typeface="Arial"/>
              </a:rPr>
              <a:t>Three layout modes, semantic output, round-trip metadata on every element.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857728"/>
            <a:ext cx="5219395" cy="1533448"/>
          </a:xfrm>
          <a:prstGeom prst="roundRect">
            <a:avLst>
              <a:gd name="adj" fmla="val 4969"/>
            </a:avLst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2857728"/>
            <a:ext cx="50800" cy="15334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595" y="3162223"/>
            <a:ext cx="2390851" cy="295579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950" b="1" i="0">
                <a:solidFill>
                  <a:srgbClr val="2D3748"/>
                </a:solidFill>
                <a:latin typeface="Arial"/>
              </a:rPr>
              <a:t>HTML → 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595" y="3571646"/>
            <a:ext cx="4572000" cy="514350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350" b="0" i="0">
                <a:solidFill>
                  <a:srgbClr val="4A5568"/>
                </a:solidFill>
                <a:latin typeface="Arial"/>
              </a:rPr>
              <a:t>Native DrawingML shapes, deterministic rules, no LLM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05245"/>
            <a:ext cx="3105302" cy="171450"/>
          </a:xfrm>
          <a:prstGeom prst="rect">
            <a:avLst/>
          </a:prstGeom>
          <a:noFill/>
        </p:spPr>
        <p:txBody>
          <a:bodyPr wrap="square" lIns="9144" rIns="9144" tIns="0" bIns="0" anchor="t">
            <a:no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  <a:latin typeface="Arial"/>
              </a:rPr>
              <a:t>github.com/solider-shuwen/shuttleslide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